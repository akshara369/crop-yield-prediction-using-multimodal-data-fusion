
<file path=[Content_Types].xml><?xml version="1.0" encoding="utf-8"?>
<ns0:Types xmlns:ns0="http://schemas.openxmlformats.org/package/2006/content-types">
  <ns0:Default Extension="jpeg" ContentType="image/jpeg"/>
  <ns0:Default Extension="rels" ContentType="application/vnd.openxmlformats-package.relationships+xml"/>
  <ns0:Default Extension="xml" ContentType="application/xml"/>
  <ns0:Default Extension="jpg" ContentType="image/jpeg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notesMasters/notesMaster1.xml" ContentType="application/vnd.openxmlformats-officedocument.presentationml.notesMaster+xml"/>
  <ns0:Override PartName="/ppt/handoutMasters/handoutMaster1.xml" ContentType="application/vnd.openxmlformats-officedocument.presentationml.handoutMaster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theme/theme2.xml" ContentType="application/vnd.openxmlformats-officedocument.theme+xml"/>
  <ns0:Override PartName="/ppt/theme/theme3.xml" ContentType="application/vnd.openxmlformats-officedocument.them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0/main" xmlns:ns4="http://schemas.microsoft.com/office/powerpoint/2012/main" xmlns:p="http://schemas.openxmlformats.org/presentationml/2006/main" xmlns:r="http://schemas.openxmlformats.org/officeDocument/2006/relationships" saveSubsetFonts="1">
  <p:sldMasterIdLst>
    <p:sldMasterId id="2147483660" r:id="rId1"/>
  </p:sldMasterIdLst>
  <p:notesMasterIdLst>
    <p:notesMasterId r:id="rId5"/>
  </p:notesMasterIdLst>
  <p:handoutMasterIdLst>
    <p:handoutMasterId r:id="rId6"/>
  </p:handoutMasterIdLst>
  <p:sldIdLst>
    <p:sldId id="256" r:id="rId2"/>
    <p:sldId id="259" r:id="rId3"/>
    <p:sldId id="261" r:id="rId4"/>
    <p:sldId id="304" r:id="rId24"/>
    <p:sldId id="305" r:id="rId25"/>
    <p:sldId id="306" r:id="rId26"/>
    <p:sldId id="307" r:id="rId27"/>
    <p:sldId id="308" r:id="rId28"/>
    <p:sldId id="309" r:id="rId29"/>
    <p:sldId id="310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ns3:sectionLst>
        <ns3:section name="Inroduction" id="{1BD0E75E-ED94-4F88-B8E9-853F85056D5F}">
          <ns3:sldIdLst>
            <ns3:sldId id="256"/>
            <ns3:sldId id="259"/>
            <ns3:sldId id="261"/>
          </ns3:sldIdLst>
        </ns3:section>
      </ns3:sectionLst>
    </p:ext>
    <p:ext uri="{EFAFB233-063F-42B5-8137-9DF3F51BA10A}">
      <ns4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viewProps" Target="viewProps.xml" /><ns0:Relationship Id="rId3" Type="http://schemas.openxmlformats.org/officeDocument/2006/relationships/slide" Target="slides/slide2.xml" /><ns0:Relationship Id="rId7" Type="http://schemas.openxmlformats.org/officeDocument/2006/relationships/presProps" Target="presProps.xml" /><ns0:Relationship Id="rId2" Type="http://schemas.openxmlformats.org/officeDocument/2006/relationships/slide" Target="slides/slide1.xml" /><ns0:Relationship Id="rId1" Type="http://schemas.openxmlformats.org/officeDocument/2006/relationships/slideMaster" Target="slideMasters/slideMaster1.xml" /><ns0:Relationship Id="rId6" Type="http://schemas.openxmlformats.org/officeDocument/2006/relationships/handoutMaster" Target="handoutMasters/handoutMaster1.xml" /><ns0:Relationship Id="rId5" Type="http://schemas.openxmlformats.org/officeDocument/2006/relationships/notesMaster" Target="notesMasters/notesMaster1.xml" /><ns0:Relationship Id="rId10" Type="http://schemas.openxmlformats.org/officeDocument/2006/relationships/tableStyles" Target="tableStyles.xml" /><ns0:Relationship Id="rId4" Type="http://schemas.openxmlformats.org/officeDocument/2006/relationships/slide" Target="slides/slide3.xml" /><ns0:Relationship Id="rId9" Type="http://schemas.openxmlformats.org/officeDocument/2006/relationships/theme" Target="theme/theme1.xml" /><ns0:Relationship Id="rId24" Type="http://schemas.openxmlformats.org/officeDocument/2006/relationships/slide" Target="slides/slide4.xml" /><ns0:Relationship Id="rId25" Type="http://schemas.openxmlformats.org/officeDocument/2006/relationships/slide" Target="slides/slide5.xml" /><ns0:Relationship Id="rId26" Type="http://schemas.openxmlformats.org/officeDocument/2006/relationships/slide" Target="slides/slide6.xml" /><ns0:Relationship Id="rId27" Type="http://schemas.openxmlformats.org/officeDocument/2006/relationships/slide" Target="slides/slide7.xml" /><ns0:Relationship Id="rId28" Type="http://schemas.openxmlformats.org/officeDocument/2006/relationships/slide" Target="slides/slide8.xml" /><ns0:Relationship Id="rId29" Type="http://schemas.openxmlformats.org/officeDocument/2006/relationships/slide" Target="slides/slide9.xml" /><ns0:Relationship Id="rId30" Type="http://schemas.openxmlformats.org/officeDocument/2006/relationships/slide" Target="slides/slide10.xml" /></ns0: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7D9F59-1E10-4A9B-A1B9-2BAC453C0211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1C0B06-3340-4109-9BB8-90BBDABAB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21173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7E6848-630C-4143-931A-3482CD985CE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7B949A-DC14-404E-98B4-A4D89143D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057544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A4D39-3DF9-45F0-B12A-A60F2B84AF00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 ,CSPIT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6237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0A95E-1C47-4CEF-BFBB-0974FDB304DB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 ,CSPIT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211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B2C4-D439-45A3-A117-51F3E01B60C3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 ,CSPIT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8105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67F6E-A66B-4381-8A2C-3486C09D598B}" type="datetime1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 ,CSPIT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703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6E20F-C7C1-4D22-8980-41122AA8A602}" type="datetime1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 ,CSPIT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456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8222F-A0B4-4627-BA7D-1684A17AC69B}" type="datetime1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 ,CSPIT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862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7C41A-BDE4-4D8F-A183-1217B30E28B4}" type="datetime1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Department of Computer Science &amp; Engineering ,CSPIT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095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C31206F-3307-4F0F-A434-2A5B37659217}" type="datetime1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Department of Computer Science &amp; Engineering ,CSPIT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2F294B-B6A8-44F3-8A3C-0EE5B1E34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011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0B680-DFE7-47E7-8C10-791358E93EC8}" type="datetime1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 ,CSPIT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624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10A5-7694-4E6D-B9EB-5FED3A264B2B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 ,CSPIT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50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15FEA-70C5-4284-AE7E-C5E02B60CA1B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 ,CSPIT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243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1EE931B-43B2-469F-93B9-3C56D1192037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Department of Computer Science &amp; Engineering ,CSPIT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52F294B-B6A8-44F3-8A3C-0EE5B1E3450E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9207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3="http://schemas.microsoft.com/office/drawing/2010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1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7070102" y="4714310"/>
            <a:ext cx="4989107" cy="2010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Team Members : Name (ID)</a:t>
            </a:r>
            <a:endParaRPr lang="en-US" dirty="0"/>
          </a:p>
          <a:p>
            <a:pPr>
              <a:spcBef>
                <a:spcPts val="1000"/>
              </a:spcBef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  </a:t>
            </a:r>
            <a:r>
              <a:rPr lang="en-US" dirty="0" smtClean="0">
                <a:solidFill>
                  <a:srgbClr val="000000"/>
                </a:solidFill>
                <a:latin typeface="Calibri" panose="020F0502020204030204" pitchFamily="34" charset="0"/>
              </a:rPr>
              <a:t>			    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Name (ID)</a:t>
            </a:r>
            <a:endParaRPr lang="en-US" dirty="0"/>
          </a:p>
          <a:p>
            <a:pPr>
              <a:spcBef>
                <a:spcPts val="1000"/>
              </a:spcBef>
            </a:pP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      </a:t>
            </a:r>
            <a:endParaRPr lang="en-US" dirty="0"/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89641" y="474349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Guided By : </a:t>
            </a:r>
            <a:endParaRPr lang="en-US" dirty="0"/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ns3:useLocalDpi val="0"/>
              </a:ext>
            </a:extLst>
          </a:blip>
          <a:stretch>
            <a:fillRect/>
          </a:stretch>
        </p:blipFill>
        <p:spPr>
          <a:xfrm>
            <a:off x="3633560" y="482358"/>
            <a:ext cx="4672240" cy="89444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ns3:useLocalDpi val="0"/>
              </a:ext>
            </a:extLst>
          </a:blip>
          <a:stretch>
            <a:fillRect/>
          </a:stretch>
        </p:blipFill>
        <p:spPr>
          <a:xfrm>
            <a:off x="578534" y="340491"/>
            <a:ext cx="1037492" cy="1019102"/>
          </a:xfrm>
          <a:prstGeom prst="rect">
            <a:avLst/>
          </a:prstGeom>
        </p:spPr>
      </p:pic>
      <p:sp>
        <p:nvSpPr>
          <p:cNvPr id="11" name="Title 10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75656"/>
          </a:xfrm>
        </p:spPr>
        <p:txBody>
          <a:bodyPr>
            <a:normAutofit/>
          </a:bodyPr>
          <a:lstStyle/>
          <a:p>
            <a:pPr algn="ctr"/>
            <a:r>
              <a:rPr lang="en-IN" sz="4800" dirty="0"/>
              <a:t>Crop Yield Prediction</a:t>
            </a:r>
            <a:r>
              <a:rPr lang="en-IN" sz="4800" dirty="0" smtClean="0"/>
              <a:t>Using Multimodal Data Fusion</a:t>
            </a:r>
            <a:br>
              <a:rPr lang="en-IN" sz="4800" dirty="0" smtClean="0"/>
            </a:br>
            <a:r>
              <a:rPr lang="en-IN" sz="4800" dirty="0"/>
              <a:t/>
            </a:r>
            <a:br>
              <a:rPr lang="en-IN" sz="4800" dirty="0"/>
            </a:br>
            <a:r>
              <a:rPr lang="en-IN" sz="3600" b="1" dirty="0" smtClean="0"/>
              <a:t>CE452</a:t>
            </a:r>
            <a:r>
              <a:rPr lang="en-IN" sz="3600" b="1" smtClean="0"/>
              <a:t>: Minor Project</a:t>
            </a:r>
            <a:endParaRPr lang="en-IN" sz="4800" b="1" dirty="0"/>
          </a:p>
        </p:txBody>
      </p:sp>
      <p:sp>
        <p:nvSpPr>
          <p:cNvPr id="12" name="Title 10"/>
          <p:cNvSpPr txBox="1">
            <a:spLocks/>
          </p:cNvSpPr>
          <p:nvPr/>
        </p:nvSpPr>
        <p:spPr>
          <a:xfrm>
            <a:off x="1097280" y="5530362"/>
            <a:ext cx="10058400" cy="59207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IN" sz="4800" b="1" dirty="0"/>
          </a:p>
        </p:txBody>
      </p:sp>
      <p:sp>
        <p:nvSpPr>
          <p:cNvPr id="13" name="Rectangle 12"/>
          <p:cNvSpPr/>
          <p:nvPr/>
        </p:nvSpPr>
        <p:spPr>
          <a:xfrm>
            <a:off x="2705099" y="6324525"/>
            <a:ext cx="704557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solidFill>
                  <a:schemeClr val="bg1"/>
                </a:solidFill>
              </a:rPr>
              <a:t>Department of Computer </a:t>
            </a:r>
            <a:r>
              <a:rPr lang="en-IN" sz="1600" b="1" dirty="0" smtClean="0">
                <a:solidFill>
                  <a:schemeClr val="bg1"/>
                </a:solidFill>
              </a:rPr>
              <a:t>Engineering</a:t>
            </a:r>
            <a:r>
              <a:rPr lang="en-IN" sz="1600" b="1" dirty="0">
                <a:solidFill>
                  <a:schemeClr val="bg1"/>
                </a:solidFill>
              </a:rPr>
              <a:t>, </a:t>
            </a:r>
            <a:endParaRPr lang="en-IN" sz="1600" b="1" dirty="0" smtClean="0">
              <a:solidFill>
                <a:schemeClr val="bg1"/>
              </a:solidFill>
            </a:endParaRPr>
          </a:p>
          <a:p>
            <a:pPr algn="ctr"/>
            <a:r>
              <a:rPr lang="en-IN" sz="1600" b="1" dirty="0" err="1" smtClean="0">
                <a:solidFill>
                  <a:schemeClr val="bg1"/>
                </a:solidFill>
              </a:rPr>
              <a:t>Devang</a:t>
            </a:r>
            <a:r>
              <a:rPr lang="en-IN" sz="1600" b="1" dirty="0" smtClean="0">
                <a:solidFill>
                  <a:schemeClr val="bg1"/>
                </a:solidFill>
              </a:rPr>
              <a:t> </a:t>
            </a:r>
            <a:r>
              <a:rPr lang="en-IN" sz="1600" b="1" dirty="0">
                <a:solidFill>
                  <a:schemeClr val="bg1"/>
                </a:solidFill>
              </a:rPr>
              <a:t>Patel Institute of Advance Technology and Research (DEPSTAR)</a:t>
            </a:r>
          </a:p>
        </p:txBody>
      </p:sp>
    </p:spTree>
    <p:extLst>
      <p:ext uri="{BB962C8B-B14F-4D97-AF65-F5344CB8AC3E}">
        <ns4:creationId val="212081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82425" y="1082183"/>
            <a:ext cx="9492792" cy="48968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880" indent="-285750" fontAlgn="base">
              <a:spcBef>
                <a:spcPts val="1400"/>
              </a:spcBef>
              <a:buClr>
                <a:schemeClr val="accent1"/>
              </a:buClr>
              <a:buFont typeface="Wingdings" panose="05000000000000000000" pitchFamily="2" charset="2"/>
              <a:buChar char="q"/>
            </a:pPr>
            <a:endParaRPr lang="en-US" dirty="0" smtClean="0"/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INTRODUCTION &amp; OBJECTIVES</a:t>
            </a:r>
            <a:endParaRPr lang="en-IN" dirty="0"/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LITERATURE REVIEW</a:t>
            </a:r>
            <a:endParaRPr lang="en-IN" dirty="0"/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DATA &amp; PREPROCESSING</a:t>
            </a:r>
            <a:endParaRPr lang="en-IN" dirty="0"/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TECHNOLOGY STACK</a:t>
            </a:r>
            <a:endParaRPr lang="en-IN" dirty="0"/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SYSTEM</a:t>
            </a:r>
            <a:endParaRPr lang="en-IN" dirty="0"/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ARCHITECTURE</a:t>
            </a:r>
            <a:r>
              <a:rPr lang="en-US" b="1" dirty="0" smtClean="0"/>
              <a:t>DESIGN/Architecture </a:t>
            </a:r>
            <a:r>
              <a:rPr lang="en-US" b="1" dirty="0"/>
              <a:t>Diagram</a:t>
            </a:r>
            <a:endParaRPr lang="en-IN" dirty="0"/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TESTING &amp; EVALUATION</a:t>
            </a:r>
            <a:endParaRPr lang="en-IN" dirty="0"/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RESULTS</a:t>
            </a:r>
            <a:endParaRPr lang="en-IN" dirty="0"/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CHALLENGES &amp; LIMITATIONS</a:t>
            </a:r>
            <a:endParaRPr lang="en-IN" dirty="0"/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CONCLUSION AND FUTURE SCOPE</a:t>
            </a:r>
            <a:endParaRPr lang="en-I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REFERENCES</a:t>
            </a:r>
            <a:endParaRPr lang="en-US" dirty="0" smtClean="0"/>
          </a:p>
        </p:txBody>
      </p:sp>
      <p:sp>
        <p:nvSpPr>
          <p:cNvPr id="6" name="Footer Placeholder 8"/>
          <p:cNvSpPr txBox="1">
            <a:spLocks/>
          </p:cNvSpPr>
          <p:nvPr/>
        </p:nvSpPr>
        <p:spPr>
          <a:xfrm>
            <a:off x="3657905" y="6459784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 smtClean="0"/>
              <a:t>Department of Computer Engineering, </a:t>
            </a:r>
            <a:r>
              <a:rPr lang="en-US" sz="1100" dirty="0"/>
              <a:t>DEPSTAR</a:t>
            </a:r>
          </a:p>
        </p:txBody>
      </p:sp>
      <p:sp>
        <p:nvSpPr>
          <p:cNvPr id="7" name="Rectangle 6"/>
          <p:cNvSpPr/>
          <p:nvPr/>
        </p:nvSpPr>
        <p:spPr>
          <a:xfrm>
            <a:off x="974103" y="620518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</a:rPr>
              <a:t>Project Overview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</a:rPr>
              <a:t/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ns2:creationId val="575556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87" y="418488"/>
            <a:ext cx="10058400" cy="1146543"/>
          </a:xfrm>
        </p:spPr>
        <p:txBody>
          <a:bodyPr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Introduction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69369" y="6459784"/>
            <a:ext cx="4822804" cy="365125"/>
          </a:xfrm>
        </p:spPr>
        <p:txBody>
          <a:bodyPr/>
          <a:lstStyle/>
          <a:p>
            <a:r>
              <a:rPr lang="en-US" sz="1100" dirty="0" smtClean="0"/>
              <a:t>Department of Computer Engineering, DEPSTAR</a:t>
            </a:r>
            <a:endParaRPr lang="en-US" sz="11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3</a:t>
            </a:fld>
            <a:endParaRPr lang="en-US"/>
          </a:p>
        </p:txBody>
      </p:sp>
      <p:sp>
        <p:nvSpPr>
          <p:cNvPr id="20" name="Content"/>
          <p:cNvSpPr/>
          <p:nvPr/>
        </p:nvSpPr>
        <p:spPr>
          <a:xfrm>
            <a:off x="750000" y="1700000"/>
            <a:ext cx="10500000" cy="4300000"/>
          </a:xfrm>
          <a:prstGeom prst="rect">
            <a:avLst/>
          </a:prstGeom>
          <a:noFill/>
        </p:spPr>
        <p:txBody>
          <a:bodyPr wrap="square" anchor="t" lIns="100000" rIns="100000" tIns="50000" bIns="50000"/>
          <a:lstStyle/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Rice and maize yields vary with weather, soil fertility, management and crop health.</a:t>
            </a:r>
            <a:endParaRPr lang="en-US" sz="2000">
              <a:latin typeface="+mn-lt"/>
            </a:endParaRPr>
          </a:p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Historical statistics describe past production; Sentinel-2 imagery adds seasonal vegetation information.</a:t>
            </a:r>
            <a:endParaRPr lang="en-US" sz="2000">
              <a:latin typeface="+mn-lt"/>
            </a:endParaRPr>
          </a:p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The project combines agricultural, soil, geographic and satellite data for yield prediction across Indian states.</a:t>
            </a:r>
            <a:endParaRPr lang="en-US" sz="2000">
              <a:latin typeface="+mn-lt"/>
            </a:endParaRPr>
          </a:p>
        </p:txBody>
      </p:sp>
    </p:spTree>
    <p:extLst>
      <p:ext uri="{BB962C8B-B14F-4D97-AF65-F5344CB8AC3E}">
        <ns2:creationId val="3028365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87" y="418488"/>
            <a:ext cx="10058400" cy="1146543"/>
          </a:xfrm>
        </p:spPr>
        <p:txBody>
          <a:bodyPr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Problem &amp; Objectives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69369" y="6459784"/>
            <a:ext cx="4822804" cy="365125"/>
          </a:xfrm>
        </p:spPr>
        <p:txBody>
          <a:bodyPr/>
          <a:lstStyle/>
          <a:p>
            <a:r>
              <a:rPr lang="en-US" sz="1100" dirty="0" smtClean="0"/>
              <a:t>Department of Computer Engineering, DEPSTAR</a:t>
            </a:r>
            <a:endParaRPr lang="en-US" sz="11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4</a:t>
            </a:fld>
            <a:endParaRPr lang="en-US"/>
          </a:p>
        </p:txBody>
      </p:sp>
      <p:sp>
        <p:nvSpPr>
          <p:cNvPr id="20" name="Content"/>
          <p:cNvSpPr/>
          <p:nvPr/>
        </p:nvSpPr>
        <p:spPr>
          <a:xfrm>
            <a:off x="750000" y="1700000"/>
            <a:ext cx="10500000" cy="4300000"/>
          </a:xfrm>
          <a:prstGeom prst="rect">
            <a:avLst/>
          </a:prstGeom>
          <a:noFill/>
        </p:spPr>
        <p:txBody>
          <a:bodyPr wrap="square" anchor="t" lIns="100000" rIns="100000" tIns="50000" bIns="50000"/>
          <a:lstStyle/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Agricultural surveys can be delayed and spatially aggregated; satellite imagery cannot show fertilizer or pesticide use.</a:t>
            </a:r>
            <a:endParaRPr lang="en-US" sz="2000">
              <a:latin typeface="+mn-lt"/>
            </a:endParaRPr>
          </a:p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Integrate area, rainfall, fertilizer, pesticide, soil profiles, coordinates and Sentinel-2 features.</a:t>
            </a:r>
            <a:endParaRPr lang="en-US" sz="2000">
              <a:latin typeface="+mn-lt"/>
            </a:endParaRPr>
          </a:p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Prevent target leakage, evaluate models with chronological splits, and provide an interactive decision-support dashboard.</a:t>
            </a:r>
            <a:endParaRPr lang="en-US" sz="2000">
              <a:latin typeface="+mn-lt"/>
            </a:endParaRPr>
          </a:p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Assess deep multimodal fusion as the next project stage.</a:t>
            </a:r>
            <a:endParaRPr lang="en-US" sz="2000">
              <a:latin typeface="+mn-lt"/>
            </a:endParaRPr>
          </a:p>
        </p:txBody>
      </p:sp>
    </p:spTree>
    <p:extLst>
      <p:ext uri="{BB962C8B-B14F-4D97-AF65-F5344CB8AC3E}">
        <ns2:creationId val="3028365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87" y="418488"/>
            <a:ext cx="10058400" cy="1146543"/>
          </a:xfrm>
        </p:spPr>
        <p:txBody>
          <a:bodyPr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Data &amp; Preprocessing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69369" y="6459784"/>
            <a:ext cx="4822804" cy="365125"/>
          </a:xfrm>
        </p:spPr>
        <p:txBody>
          <a:bodyPr/>
          <a:lstStyle/>
          <a:p>
            <a:r>
              <a:rPr lang="en-US" sz="1100" dirty="0" smtClean="0"/>
              <a:t>Department of Computer Engineering, DEPSTAR</a:t>
            </a:r>
            <a:endParaRPr lang="en-US" sz="11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5</a:t>
            </a:fld>
            <a:endParaRPr lang="en-US"/>
          </a:p>
        </p:txBody>
      </p:sp>
      <p:sp>
        <p:nvSpPr>
          <p:cNvPr id="20" name="Content"/>
          <p:cNvSpPr/>
          <p:nvPr/>
        </p:nvSpPr>
        <p:spPr>
          <a:xfrm>
            <a:off x="750000" y="1700000"/>
            <a:ext cx="10500000" cy="4300000"/>
          </a:xfrm>
          <a:prstGeom prst="rect">
            <a:avLst/>
          </a:prstGeom>
          <a:noFill/>
        </p:spPr>
        <p:txBody>
          <a:bodyPr wrap="square" anchor="t" lIns="100000" rIns="100000" tIns="50000" bIns="50000"/>
          <a:lstStyle/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1,781 rice and maize records from 1997 to 2020, harmonized with state soil, coordinate and Sentinel-2 features.</a:t>
            </a:r>
            <a:endParaRPr lang="en-US" sz="2000">
              <a:latin typeface="+mn-lt"/>
            </a:endParaRPr>
          </a:p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Removed 7 implausible yield outliers above 15 tonnes/ha; 1,774 records remain.</a:t>
            </a:r>
            <a:endParaRPr lang="en-US" sz="2000">
              <a:latin typeface="+mn-lt"/>
            </a:endParaRPr>
          </a:p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Excluded production because yield = production / area; added fertilizer-per-area and pesticide-per-area features.</a:t>
            </a:r>
            <a:endParaRPr lang="en-US" sz="2000">
              <a:latin typeface="+mn-lt"/>
            </a:endParaRPr>
          </a:p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Chronological split: train through 2016 (1,556), validation 2017–2018 (150), test 2019–2020 (68).</a:t>
            </a:r>
            <a:endParaRPr lang="en-US" sz="2000">
              <a:latin typeface="+mn-lt"/>
            </a:endParaRPr>
          </a:p>
        </p:txBody>
      </p:sp>
    </p:spTree>
    <p:extLst>
      <p:ext uri="{BB962C8B-B14F-4D97-AF65-F5344CB8AC3E}">
        <ns2:creationId val="3028365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87" y="418488"/>
            <a:ext cx="10058400" cy="1146543"/>
          </a:xfrm>
        </p:spPr>
        <p:txBody>
          <a:bodyPr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System Architecture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69369" y="6459784"/>
            <a:ext cx="4822804" cy="365125"/>
          </a:xfrm>
        </p:spPr>
        <p:txBody>
          <a:bodyPr/>
          <a:lstStyle/>
          <a:p>
            <a:r>
              <a:rPr lang="en-US" sz="1100" dirty="0" smtClean="0"/>
              <a:t>Department of Computer Engineering, DEPSTAR</a:t>
            </a:r>
            <a:endParaRPr lang="en-US" sz="11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6</a:t>
            </a:fld>
            <a:endParaRPr lang="en-US"/>
          </a:p>
        </p:txBody>
      </p:sp>
      <p:sp>
        <p:nvSpPr>
          <p:cNvPr id="20" name="Content"/>
          <p:cNvSpPr/>
          <p:nvPr/>
        </p:nvSpPr>
        <p:spPr>
          <a:xfrm>
            <a:off x="750000" y="1700000"/>
            <a:ext cx="10500000" cy="4300000"/>
          </a:xfrm>
          <a:prstGeom prst="rect">
            <a:avLst/>
          </a:prstGeom>
          <a:noFill/>
        </p:spPr>
        <p:txBody>
          <a:bodyPr wrap="square" anchor="t" lIns="100000" rIns="100000" tIns="50000" bIns="50000"/>
          <a:lstStyle/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Data sources: crop-yield records, state coordinates, soil lookup, Sentinel-2 spectral features and paired RGB / NDVI image samples.</a:t>
            </a:r>
            <a:endParaRPr lang="en-US" sz="2000">
              <a:latin typeface="+mn-lt"/>
            </a:endParaRPr>
          </a:p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Preprocessing harmonizes records, filters outliers, derives agronomic rates and applies leakage controls.</a:t>
            </a:r>
            <a:endParaRPr lang="en-US" sz="2000">
              <a:latin typeface="+mn-lt"/>
            </a:endParaRPr>
          </a:p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Tabular baselines use 43 engineered features; image-only experiments use a 6-channel CNN or image-summary descriptors.</a:t>
            </a:r>
            <a:endParaRPr lang="en-US" sz="2000">
              <a:latin typeface="+mn-lt"/>
            </a:endParaRPr>
          </a:p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Streamlit dashboard supports exploration and tabular yield prediction.</a:t>
            </a:r>
            <a:endParaRPr lang="en-US" sz="2000">
              <a:latin typeface="+mn-lt"/>
            </a:endParaRPr>
          </a:p>
        </p:txBody>
      </p:sp>
    </p:spTree>
    <p:extLst>
      <p:ext uri="{BB962C8B-B14F-4D97-AF65-F5344CB8AC3E}">
        <ns2:creationId val="3028365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87" y="418488"/>
            <a:ext cx="10058400" cy="1146543"/>
          </a:xfrm>
        </p:spPr>
        <p:txBody>
          <a:bodyPr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Experiments &amp; Metrics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69369" y="6459784"/>
            <a:ext cx="4822804" cy="365125"/>
          </a:xfrm>
        </p:spPr>
        <p:txBody>
          <a:bodyPr/>
          <a:lstStyle/>
          <a:p>
            <a:r>
              <a:rPr lang="en-US" sz="1100" dirty="0" smtClean="0"/>
              <a:t>Department of Computer Engineering, DEPSTAR</a:t>
            </a:r>
            <a:endParaRPr lang="en-US" sz="11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7</a:t>
            </a:fld>
            <a:endParaRPr lang="en-US"/>
          </a:p>
        </p:txBody>
      </p:sp>
      <p:sp>
        <p:nvSpPr>
          <p:cNvPr id="20" name="Content"/>
          <p:cNvSpPr/>
          <p:nvPr/>
        </p:nvSpPr>
        <p:spPr>
          <a:xfrm>
            <a:off x="750000" y="1700000"/>
            <a:ext cx="10500000" cy="4300000"/>
          </a:xfrm>
          <a:prstGeom prst="rect">
            <a:avLst/>
          </a:prstGeom>
          <a:noFill/>
        </p:spPr>
        <p:txBody>
          <a:bodyPr wrap="square" anchor="t" lIns="100000" rIns="100000" tIns="50000" bIns="50000"/>
          <a:lstStyle/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Tabular baselines: Dummy Mean, Random Forest, HistGradientBoosting and Gradient Boosting.</a:t>
            </a:r>
            <a:endParaRPr lang="en-US" sz="2000">
              <a:latin typeface="+mn-lt"/>
            </a:endParaRPr>
          </a:p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Image-only experiments: custom 6-channel CNN and RGB / NDVI summary-feature regressors.</a:t>
            </a:r>
            <a:endParaRPr lang="en-US" sz="2000">
              <a:latin typeface="+mn-lt"/>
            </a:endParaRPr>
          </a:p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Chronological validation and test sets reflect future-year prediction.</a:t>
            </a:r>
            <a:endParaRPr lang="en-US" sz="2000">
              <a:latin typeface="+mn-lt"/>
            </a:endParaRPr>
          </a:p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Metrics: RMSE and MAE in tonnes/ha, plus R-squared. Production is excluded from model inputs.</a:t>
            </a:r>
            <a:endParaRPr lang="en-US" sz="2000">
              <a:latin typeface="+mn-lt"/>
            </a:endParaRPr>
          </a:p>
        </p:txBody>
      </p:sp>
    </p:spTree>
    <p:extLst>
      <p:ext uri="{BB962C8B-B14F-4D97-AF65-F5344CB8AC3E}">
        <ns2:creationId val="3028365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87" y="418488"/>
            <a:ext cx="10058400" cy="1146543"/>
          </a:xfrm>
        </p:spPr>
        <p:txBody>
          <a:bodyPr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Baseline Results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69369" y="6459784"/>
            <a:ext cx="4822804" cy="365125"/>
          </a:xfrm>
        </p:spPr>
        <p:txBody>
          <a:bodyPr/>
          <a:lstStyle/>
          <a:p>
            <a:r>
              <a:rPr lang="en-US" sz="1100" dirty="0" smtClean="0"/>
              <a:t>Department of Computer Engineering, DEPSTAR</a:t>
            </a:r>
            <a:endParaRPr lang="en-US" sz="11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8</a:t>
            </a:fld>
            <a:endParaRPr lang="en-US"/>
          </a:p>
        </p:txBody>
      </p:sp>
      <p:sp>
        <p:nvSpPr>
          <p:cNvPr id="20" name="Content"/>
          <p:cNvSpPr/>
          <p:nvPr/>
        </p:nvSpPr>
        <p:spPr>
          <a:xfrm>
            <a:off x="750000" y="1700000"/>
            <a:ext cx="10500000" cy="4300000"/>
          </a:xfrm>
          <a:prstGeom prst="rect">
            <a:avLst/>
          </a:prstGeom>
          <a:noFill/>
        </p:spPr>
        <p:txBody>
          <a:bodyPr wrap="square" anchor="t" lIns="100000" rIns="100000" tIns="50000" bIns="50000"/>
          <a:lstStyle/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Best tabular model, Gradient Boosting: test RMSE 0.8035 t/ha, MAE 0.5104 t/ha, R-squared 0.6919.</a:t>
            </a:r>
            <a:endParaRPr lang="en-US" sz="2000">
              <a:latin typeface="+mn-lt"/>
            </a:endParaRPr>
          </a:p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Rice test subset (N=31): RMSE 0.4131 t/ha; R-squared 0.7082.</a:t>
            </a:r>
            <a:endParaRPr lang="en-US" sz="2000">
              <a:latin typeface="+mn-lt"/>
            </a:endParaRPr>
          </a:p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Maize test subset (N=37): RMSE 1.0216 t/ha; R-squared 0.6750.</a:t>
            </a:r>
            <a:endParaRPr lang="en-US" sz="2000">
              <a:latin typeface="+mn-lt"/>
            </a:endParaRPr>
          </a:p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Image-only CNN on aligned 2019 subset (N=13): R-squared 0.0610; exploratory image features also trail the tabular reference.</a:t>
            </a:r>
            <a:endParaRPr lang="en-US" sz="2000">
              <a:latin typeface="+mn-lt"/>
            </a:endParaRPr>
          </a:p>
        </p:txBody>
      </p:sp>
    </p:spTree>
    <p:extLst>
      <p:ext uri="{BB962C8B-B14F-4D97-AF65-F5344CB8AC3E}">
        <ns2:creationId val="3028365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87" y="418488"/>
            <a:ext cx="10058400" cy="1146543"/>
          </a:xfrm>
        </p:spPr>
        <p:txBody>
          <a:bodyPr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Application &amp; Challenges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69369" y="6459784"/>
            <a:ext cx="4822804" cy="365125"/>
          </a:xfrm>
        </p:spPr>
        <p:txBody>
          <a:bodyPr/>
          <a:lstStyle/>
          <a:p>
            <a:r>
              <a:rPr lang="en-US" sz="1100" dirty="0" smtClean="0"/>
              <a:t>Department of Computer Engineering, DEPSTAR</a:t>
            </a:r>
            <a:endParaRPr lang="en-US" sz="11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9</a:t>
            </a:fld>
            <a:endParaRPr lang="en-US"/>
          </a:p>
        </p:txBody>
      </p:sp>
      <p:sp>
        <p:nvSpPr>
          <p:cNvPr id="20" name="Content"/>
          <p:cNvSpPr/>
          <p:nvPr/>
        </p:nvSpPr>
        <p:spPr>
          <a:xfrm>
            <a:off x="750000" y="1700000"/>
            <a:ext cx="10500000" cy="4300000"/>
          </a:xfrm>
          <a:prstGeom prst="rect">
            <a:avLst/>
          </a:prstGeom>
          <a:noFill/>
        </p:spPr>
        <p:txBody>
          <a:bodyPr wrap="square" anchor="t" lIns="100000" rIns="100000" tIns="50000" bIns="50000"/>
          <a:lstStyle/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Streamlit dashboard provides project documentation, state-level exploration, satellite browsing and yield prediction.</a:t>
            </a:r>
            <a:endParaRPr lang="en-US" sz="2000">
              <a:latin typeface="+mn-lt"/>
            </a:endParaRPr>
          </a:p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The image-only test subset contains only 13 samples; interpret its metrics cautiously.</a:t>
            </a:r>
            <a:endParaRPr lang="en-US" sz="2000">
              <a:latin typeface="+mn-lt"/>
            </a:endParaRPr>
          </a:p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Satellite images alone omit key management inputs; the interim results support combining modalities.</a:t>
            </a:r>
            <a:endParaRPr lang="en-US" sz="2000">
              <a:latin typeface="+mn-lt"/>
            </a:endParaRPr>
          </a:p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Current application inference uses the tabular model; trained multimodal inference is not yet deployed.</a:t>
            </a:r>
            <a:endParaRPr lang="en-US" sz="2000">
              <a:latin typeface="+mn-lt"/>
            </a:endParaRPr>
          </a:p>
        </p:txBody>
      </p:sp>
    </p:spTree>
    <p:extLst>
      <p:ext uri="{BB962C8B-B14F-4D97-AF65-F5344CB8AC3E}">
        <ns2:creationId val="3028365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87" y="418488"/>
            <a:ext cx="10058400" cy="1146543"/>
          </a:xfrm>
        </p:spPr>
        <p:txBody>
          <a:bodyPr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Conclusion &amp; Next Steps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69369" y="6459784"/>
            <a:ext cx="4822804" cy="365125"/>
          </a:xfrm>
        </p:spPr>
        <p:txBody>
          <a:bodyPr/>
          <a:lstStyle/>
          <a:p>
            <a:r>
              <a:rPr lang="en-US" sz="1100" dirty="0" smtClean="0"/>
              <a:t>Department of Computer Engineering, DEPSTAR</a:t>
            </a:r>
            <a:endParaRPr lang="en-US" sz="11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10</a:t>
            </a:fld>
            <a:endParaRPr lang="en-US"/>
          </a:p>
        </p:txBody>
      </p:sp>
      <p:sp>
        <p:nvSpPr>
          <p:cNvPr id="20" name="Content"/>
          <p:cNvSpPr/>
          <p:nvPr/>
        </p:nvSpPr>
        <p:spPr>
          <a:xfrm>
            <a:off x="750000" y="1700000"/>
            <a:ext cx="10500000" cy="4300000"/>
          </a:xfrm>
          <a:prstGeom prst="rect">
            <a:avLst/>
          </a:prstGeom>
          <a:noFill/>
        </p:spPr>
        <p:txBody>
          <a:bodyPr wrap="square" anchor="t" lIns="100000" rIns="100000" tIns="50000" bIns="50000"/>
          <a:lstStyle/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The leakage-controlled tabular Gradient Boosting baseline reaches test R-squared 0.6919.</a:t>
            </a:r>
            <a:endParaRPr lang="en-US" sz="2000">
              <a:latin typeface="+mn-lt"/>
            </a:endParaRPr>
          </a:p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Image-only baselines underperform the tabular reference, motivating joint feature fusion.</a:t>
            </a:r>
            <a:endParaRPr lang="en-US" sz="2000">
              <a:latin typeface="+mn-lt"/>
            </a:endParaRPr>
          </a:p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Next: implement CNN plus tabular fusion, compare modalities on identical test samples, and analyze residual errors.</a:t>
            </a:r>
            <a:endParaRPr lang="en-US" sz="2000">
              <a:latin typeface="+mn-lt"/>
            </a:endParaRPr>
          </a:p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References: Breiman (2001); Friedman (2001); ESA Sentinel-2 User Handbook; Lobell et al. (2015); You et al. (2017).</a:t>
            </a:r>
            <a:endParaRPr lang="en-US" sz="2000">
              <a:latin typeface="+mn-lt"/>
            </a:endParaRPr>
          </a:p>
        </p:txBody>
      </p:sp>
    </p:spTree>
    <p:extLst>
      <p:ext uri="{BB962C8B-B14F-4D97-AF65-F5344CB8AC3E}">
        <ns2:creationId val="3028365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266</TotalTime>
  <Words>68</Words>
  <Application>Microsoft Office PowerPoint</Application>
  <PresentationFormat>Widescreen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</vt:lpstr>
      <vt:lpstr>Calibri Light</vt:lpstr>
      <vt:lpstr>Wingdings</vt:lpstr>
      <vt:lpstr>Retrospect</vt:lpstr>
      <vt:lpstr>Project Title  CE452: Minor Project</vt:lpstr>
      <vt:lpstr>PowerPoint Presentation</vt:lpstr>
      <vt:lpstr>Introduction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Dhara Solanki</dc:creator>
  <cp:lastModifiedBy>CHARUSAT</cp:lastModifiedBy>
  <cp:revision>45</cp:revision>
  <dcterms:created xsi:type="dcterms:W3CDTF">2023-09-24T01:32:29Z</dcterms:created>
  <dcterms:modified xsi:type="dcterms:W3CDTF">2025-10-08T09:12:38Z</dcterms:modified>
</cp:coreProperties>
</file>