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Default Extension="jpg" ContentType="image/jpeg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0/main" xmlns:ns4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59" r:id="rId3"/>
    <p:sldId id="261" r:id="rId4"/>
    <p:sldId id="304" r:id="rId24"/>
    <p:sldId id="305" r:id="rId25"/>
    <p:sldId id="306" r:id="rId26"/>
    <p:sldId id="307" r:id="rId27"/>
    <p:sldId id="308" r:id="rId28"/>
    <p:sldId id="309" r:id="rId29"/>
    <p:sldId id="31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3:sectionLst>
        <ns3:section name="Inroduction" id="{1BD0E75E-ED94-4F88-B8E9-853F85056D5F}">
          <ns3:sldIdLst>
            <ns3:sldId id="256"/>
            <ns3:sldId id="259"/>
            <ns3:sldId id="261"/>
          </ns3:sldIdLst>
        </ns3:section>
      </ns3:sectionLst>
    </p:ext>
    <p:ext uri="{EFAFB233-063F-42B5-8137-9DF3F51BA10A}">
      <ns4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viewProps" Target="viewProps.xml" /><ns0:Relationship Id="rId3" Type="http://schemas.openxmlformats.org/officeDocument/2006/relationships/slide" Target="slides/slide2.xml" /><ns0:Relationship Id="rId7" Type="http://schemas.openxmlformats.org/officeDocument/2006/relationships/presProps" Target="presProps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handoutMaster" Target="handoutMasters/handoutMaster1.xml" /><ns0:Relationship Id="rId5" Type="http://schemas.openxmlformats.org/officeDocument/2006/relationships/notesMaster" Target="notesMasters/notesMaster1.xml" /><ns0:Relationship Id="rId10" Type="http://schemas.openxmlformats.org/officeDocument/2006/relationships/tableStyles" Target="tableStyles.xml" /><ns0:Relationship Id="rId4" Type="http://schemas.openxmlformats.org/officeDocument/2006/relationships/slide" Target="slides/slide3.xml" /><ns0:Relationship Id="rId9" Type="http://schemas.openxmlformats.org/officeDocument/2006/relationships/theme" Target="theme/theme1.xml" /><ns0:Relationship Id="rId24" Type="http://schemas.openxmlformats.org/officeDocument/2006/relationships/slide" Target="slides/slide4.xml" /><ns0:Relationship Id="rId25" Type="http://schemas.openxmlformats.org/officeDocument/2006/relationships/slide" Target="slides/slide5.xml" /><ns0:Relationship Id="rId26" Type="http://schemas.openxmlformats.org/officeDocument/2006/relationships/slide" Target="slides/slide6.xml" /><ns0:Relationship Id="rId27" Type="http://schemas.openxmlformats.org/officeDocument/2006/relationships/slide" Target="slides/slide7.xml" /><ns0:Relationship Id="rId28" Type="http://schemas.openxmlformats.org/officeDocument/2006/relationships/slide" Target="slides/slide8.xml" /><ns0:Relationship Id="rId29" Type="http://schemas.openxmlformats.org/officeDocument/2006/relationships/slide" Target="slides/slide9.xml" /><ns0:Relationship Id="rId30" Type="http://schemas.openxmlformats.org/officeDocument/2006/relationships/slide" Target="slides/slide10.xml" /></ns0: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D9F59-1E10-4A9B-A1B9-2BAC453C0211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C0B06-3340-4109-9BB8-90BBDABAB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1173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E6848-630C-4143-931A-3482CD985C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B949A-DC14-404E-98B4-A4D891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575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4D39-3DF9-45F0-B12A-A60F2B84AF00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23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0A95E-1C47-4CEF-BFBB-0974FDB304D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1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B2C4-D439-45A3-A117-51F3E01B60C3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0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7F6E-A66B-4381-8A2C-3486C09D598B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0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6E20F-C7C1-4D22-8980-41122AA8A602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5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8222F-A0B4-4627-BA7D-1684A17AC69B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6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C41A-BDE4-4D8F-A183-1217B30E28B4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9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C31206F-3307-4F0F-A434-2A5B37659217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0B680-DFE7-47E7-8C10-791358E93EC8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2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10A5-7694-4E6D-B9EB-5FED3A264B2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5FEA-70C5-4284-AE7E-C5E02B60CA1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4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1EE931B-43B2-469F-93B9-3C56D1192037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Department of Computer Science &amp; Engineering ,CSPIT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2F294B-B6A8-44F3-8A3C-0EE5B1E3450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20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070102" y="4714310"/>
            <a:ext cx="4989107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Team Members : Name (ID)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 </a:t>
            </a:r>
            <a:r>
              <a:rPr lang="en-US" dirty="0" smtClean="0">
                <a:solidFill>
                  <a:srgbClr val="000000"/>
                </a:solidFill>
                <a:latin typeface="Calibri" panose="020F0502020204030204" pitchFamily="34" charset="0"/>
              </a:rPr>
              <a:t>			    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Name (ID)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      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9641" y="474349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Guided By : 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3633560" y="482358"/>
            <a:ext cx="4672240" cy="894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3:useLocalDpi val="0"/>
              </a:ext>
            </a:extLst>
          </a:blip>
          <a:stretch>
            <a:fillRect/>
          </a:stretch>
        </p:blipFill>
        <p:spPr>
          <a:xfrm>
            <a:off x="578534" y="340491"/>
            <a:ext cx="1037492" cy="1019102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75656"/>
          </a:xfrm>
        </p:spPr>
        <p:txBody>
          <a:bodyPr>
            <a:normAutofit/>
          </a:bodyPr>
          <a:lstStyle/>
          <a:p>
            <a:pPr algn="ctr"/>
            <a:r>
              <a:rPr lang="en-IN" sz="4800" dirty="0"/>
              <a:t>Crop Yield Prediction</a:t>
            </a:r>
            <a:r>
              <a:rPr lang="en-IN" sz="4800" dirty="0" smtClean="0"/>
              <a:t>Using Multimodal Data Fusion</a:t>
            </a:r>
            <a:br>
              <a:rPr lang="en-IN" sz="4800" dirty="0" smtClean="0"/>
            </a:br>
            <a:r>
              <a:rPr lang="en-IN" sz="4800" dirty="0"/>
              <a:t/>
            </a:r>
            <a:br>
              <a:rPr lang="en-IN" sz="4800" dirty="0"/>
            </a:br>
            <a:r>
              <a:rPr lang="en-IN" sz="3600" b="1" dirty="0" smtClean="0"/>
              <a:t>CE452</a:t>
            </a:r>
            <a:r>
              <a:rPr lang="en-IN" sz="3600" b="1" smtClean="0"/>
              <a:t>: Minor Project</a:t>
            </a:r>
            <a:endParaRPr lang="en-IN" sz="4800" b="1" dirty="0"/>
          </a:p>
        </p:txBody>
      </p:sp>
      <p:sp>
        <p:nvSpPr>
          <p:cNvPr id="12" name="Title 10"/>
          <p:cNvSpPr txBox="1">
            <a:spLocks/>
          </p:cNvSpPr>
          <p:nvPr/>
        </p:nvSpPr>
        <p:spPr>
          <a:xfrm>
            <a:off x="1097280" y="5530362"/>
            <a:ext cx="10058400" cy="5920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800" b="1" dirty="0"/>
          </a:p>
        </p:txBody>
      </p:sp>
      <p:sp>
        <p:nvSpPr>
          <p:cNvPr id="13" name="Rectangle 12"/>
          <p:cNvSpPr/>
          <p:nvPr/>
        </p:nvSpPr>
        <p:spPr>
          <a:xfrm>
            <a:off x="2705099" y="6324525"/>
            <a:ext cx="70455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Department of Computer </a:t>
            </a:r>
            <a:r>
              <a:rPr lang="en-IN" sz="1600" b="1" dirty="0" smtClean="0">
                <a:solidFill>
                  <a:schemeClr val="bg1"/>
                </a:solidFill>
              </a:rPr>
              <a:t>Engineering</a:t>
            </a:r>
            <a:r>
              <a:rPr lang="en-IN" sz="1600" b="1" dirty="0">
                <a:solidFill>
                  <a:schemeClr val="bg1"/>
                </a:solidFill>
              </a:rPr>
              <a:t>, </a:t>
            </a:r>
            <a:endParaRPr lang="en-IN" sz="1600" b="1" dirty="0" smtClean="0">
              <a:solidFill>
                <a:schemeClr val="bg1"/>
              </a:solidFill>
            </a:endParaRPr>
          </a:p>
          <a:p>
            <a:pPr algn="ctr"/>
            <a:r>
              <a:rPr lang="en-IN" sz="1600" b="1" dirty="0" err="1" smtClean="0">
                <a:solidFill>
                  <a:schemeClr val="bg1"/>
                </a:solidFill>
              </a:rPr>
              <a:t>Devang</a:t>
            </a:r>
            <a:r>
              <a:rPr lang="en-IN" sz="1600" b="1" dirty="0" smtClean="0">
                <a:solidFill>
                  <a:schemeClr val="bg1"/>
                </a:solidFill>
              </a:rPr>
              <a:t> </a:t>
            </a:r>
            <a:r>
              <a:rPr lang="en-IN" sz="1600" b="1" dirty="0">
                <a:solidFill>
                  <a:schemeClr val="bg1"/>
                </a:solidFill>
              </a:rPr>
              <a:t>Patel Institute of Advance Technology and Research (DEPSTAR)</a:t>
            </a:r>
          </a:p>
        </p:txBody>
      </p:sp>
    </p:spTree>
    <p:extLst>
      <p:ext uri="{BB962C8B-B14F-4D97-AF65-F5344CB8AC3E}">
        <ns4:creationId val="21208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2425" y="1082183"/>
            <a:ext cx="9492792" cy="4896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285750" fontAlgn="base">
              <a:spcBef>
                <a:spcPts val="1400"/>
              </a:spcBef>
              <a:buClr>
                <a:schemeClr val="accent1"/>
              </a:buClr>
              <a:buFont typeface="Wingdings" panose="05000000000000000000" pitchFamily="2" charset="2"/>
              <a:buChar char="q"/>
            </a:pPr>
            <a:endParaRPr lang="en-US" dirty="0" smtClean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INTRODUCTION &amp; OBJECTIVES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LITERATURE REVIEW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DATA &amp; PREPROCESSING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TECHNOLOGY STACK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SYSTEM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ARCHITECTURE</a:t>
            </a:r>
            <a:r>
              <a:rPr lang="en-US" b="1" dirty="0" smtClean="0"/>
              <a:t>DESIGN/Architecture </a:t>
            </a:r>
            <a:r>
              <a:rPr lang="en-US" b="1" dirty="0"/>
              <a:t>Diagram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TESTING &amp; EVALUATION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RESULTS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CHALLENGES &amp; LIMITATIONS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CONCLUSION AND FUTURE SCOPE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REFERENCES</a:t>
            </a:r>
            <a:endParaRPr lang="en-US" dirty="0" smtClean="0"/>
          </a:p>
        </p:txBody>
      </p:sp>
      <p:sp>
        <p:nvSpPr>
          <p:cNvPr id="6" name="Footer Placeholder 8"/>
          <p:cNvSpPr txBox="1">
            <a:spLocks/>
          </p:cNvSpPr>
          <p:nvPr/>
        </p:nvSpPr>
        <p:spPr>
          <a:xfrm>
            <a:off x="3657905" y="6459784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 smtClean="0"/>
              <a:t>Department of Computer Engineering, </a:t>
            </a:r>
            <a:r>
              <a:rPr lang="en-US" sz="1100" dirty="0"/>
              <a:t>DEPSTAR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974103" y="620518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Project Overview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/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ns2:creationId val="57555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3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Crop yield varies with weather, soil, management and crop health.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Project combines agricultural records with soil, geographic and Sentinel-2 imagery features.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Goal: estimate yield and compare tabular and image-informed models.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Problem &amp; Objectives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4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Historical statistics provide useful baselines but miss in-season crop condition.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Satellite imagery captures vegetation patterns; it does not reveal farm inputs by itself.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Build a leakage-aware prediction pipeline, benchmark modalities, and provide an interactive Streamlit dashboard.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Data &amp; Preprocessing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5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Inputs: crop, season, year, area, rainfall, fertilizer and pesticide; soil and state coordinates; Sentinel-2 RGB / NDVI imagery.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Records are harmonized with image samples; image embeddings are reduced with PCA before fusion.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Production is excluded from predictors to avoid target leakage. Use chronological splits where the experiment defines them.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System Architecture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6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Agricultural, soil, location and satellite sources → cleaning and feature engineering.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Tabular branch: encoded agronomic, weather, soil and geographic variables.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Image branch: pretrained EfficientNetV2B0 features from RGB and rendered NDVI views, compressed with PCA.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Gradient Boosting predicts yield; Streamlit supports exploration and inference.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Experiments &amp; Metrics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7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Compare dummy, Random Forest, Gradient Boosting and HistGradientBoosting baselines.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Evaluate image-only exploratory models and tabular-plus-image feature fusion.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Report RMSE and MAE in tonnes/ha; higher R² indicates more variance explained.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Use saved test predictions and metrics; note that comparisons depend on the evaluated sample split.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Results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8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Best broad tabular baseline: Gradient Boosting, test R² 0.8302; RMSE 0.5776 t/ha.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Matched image-sample comparison: tabular-only R² 0.8232, RMSE 0.6292; fused R² 0.8304, RMSE 0.6162.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Fusion improves matched-sample R² by 0.0072 and RMSE by about 0.013 t/ha: a modest gain.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Image-only exploratory test set: 13 samples; results are limited and NDVI inputs are rendered PNG colors.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Application &amp; Limitations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9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Streamlit dashboard provides crop/state/year exploration, maps, satellite browsing, soil summaries and yield estimates.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Fusion relies on image availability and feature extraction; broader validation is needed before operational use.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Image-only test set is small; treat its metrics as exploratory.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Future work: expand temporal and geographic validation, error analysis, and test fusion across matched samples.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87" y="418488"/>
            <a:ext cx="10058400" cy="1146543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Conclusion &amp; References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69369" y="6459784"/>
            <a:ext cx="4822804" cy="365125"/>
          </a:xfrm>
        </p:spPr>
        <p:txBody>
          <a:bodyPr/>
          <a:lstStyle/>
          <a:p>
            <a:r>
              <a:rPr lang="en-US" sz="1100" dirty="0" smtClean="0"/>
              <a:t>Department of Computer Engineering, DEPSTAR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294B-B6A8-44F3-8A3C-0EE5B1E3450E}" type="slidenum">
              <a:rPr lang="en-US" smtClean="0"/>
              <a:t>10</a:t>
            </a:fld>
            <a:endParaRPr lang="en-US"/>
          </a:p>
        </p:txBody>
      </p:sp>
      <p:sp>
        <p:nvSpPr>
          <p:cNvPr id="20" name="Content"/>
          <p:cNvSpPr/>
          <p:nvPr/>
        </p:nvSpPr>
        <p:spPr>
          <a:xfrm>
            <a:off x="750000" y="1700000"/>
            <a:ext cx="10500000" cy="4300000"/>
          </a:xfrm>
          <a:prstGeom prst="rect">
            <a:avLst/>
          </a:prstGeom>
          <a:noFill/>
        </p:spPr>
        <p:txBody>
          <a:bodyPr wrap="square" anchor="t" lIns="100000" rIns="100000" tIns="50000" bIns="50000"/>
          <a:lstStyle/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Multisource feature fusion is implemented and slightly improves the matched-sample tabular benchmark.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The tabular Gradient Boosting model remains a strong baseline; imagery adds a small complementary signal.</a:t>
            </a:r>
            <a:endParaRPr lang="en-US" sz="2000">
              <a:latin typeface="+mn-lt"/>
            </a:endParaRPr>
          </a:p>
          <a:p>
            <a:pPr marL="260000" indent="-200000" lvl="0"/>
            <a:buChar char="•"/>
            <a:r>
              <a:rPr lang="en-US" sz="2000">
                <a:solidFill>
                  <a:schemeClr val="tx1"/>
                </a:solidFill>
                <a:latin typeface="+mn-lt"/>
              </a:rPr>
              <a:t>References: Breiman (2001), Random Forests; Friedman (2001), Gradient Boosting; ESA Sentinel-2 User Handbook; project dataset and experiment artifacts.</a:t>
            </a:r>
            <a:endParaRPr lang="en-US" sz="2000">
              <a:latin typeface="+mn-lt"/>
            </a:endParaRPr>
          </a:p>
        </p:txBody>
      </p:sp>
    </p:spTree>
    <p:extLst>
      <p:ext uri="{BB962C8B-B14F-4D97-AF65-F5344CB8AC3E}">
        <ns2:creationId val="302836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266</TotalTime>
  <Words>68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</vt:lpstr>
      <vt:lpstr>Retrospect</vt:lpstr>
      <vt:lpstr>Project Title  CE452: Minor Project</vt:lpstr>
      <vt:lpstr>PowerPoint Presentation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 Solanki</dc:creator>
  <cp:lastModifiedBy>CHARUSAT</cp:lastModifiedBy>
  <cp:revision>45</cp:revision>
  <dcterms:created xsi:type="dcterms:W3CDTF">2023-09-24T01:32:29Z</dcterms:created>
  <dcterms:modified xsi:type="dcterms:W3CDTF">2025-10-08T09:12:38Z</dcterms:modified>
</cp:coreProperties>
</file>